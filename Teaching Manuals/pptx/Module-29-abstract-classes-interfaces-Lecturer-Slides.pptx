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_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864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EEF1F6"/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457200" y="644652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29 — Abstract Classes, Interfaces &amp; Advanced Polymorphism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686800" y="644652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3: OOP with C++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4546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4546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160520"/>
            <a:ext cx="12191695" cy="54864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182880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spc="200" kern="0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29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822960" y="2377440"/>
            <a:ext cx="10515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 Classes, Interfaces &amp; Advanced Polymorphism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822960" y="434340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7D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C++ Programming — Part 3: Object-Oriented Programming with C++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22960" y="603504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F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Lecturer Slide Deck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37160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Objectives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1188720"/>
            <a:ext cx="1069848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79400" indent="-279400">
              <a:lnSpc>
                <a:spcPct val="130000"/>
              </a:lnSpc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pure virtual functions and abstract classes, and explain why a pure virtual beats a default implementation.</a:t>
            </a:r>
            <a:endParaRPr lang="en-US" sz="2000" dirty="0"/>
          </a:p>
          <a:p>
            <a:pPr marL="279400" indent="-279400">
              <a:lnSpc>
                <a:spcPct val="130000"/>
              </a:lnSpc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an abstract class whose non-virtual method runs a fixed procedure using protected pure virtual steps.</a:t>
            </a:r>
            <a:endParaRPr lang="en-US" sz="2000" dirty="0"/>
          </a:p>
          <a:p>
            <a:pPr marL="279400" indent="-279400">
              <a:lnSpc>
                <a:spcPct val="130000"/>
              </a:lnSpc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interfaces and write functions that depend only on an interface.</a:t>
            </a:r>
            <a:endParaRPr lang="en-US" sz="2000" dirty="0"/>
          </a:p>
          <a:p>
            <a:pPr marL="279400" indent="-279400">
              <a:lnSpc>
                <a:spcPct val="130000"/>
              </a:lnSpc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how vtables implement dynamic dispatch, and distinguish static from dynamic binding.</a:t>
            </a:r>
            <a:endParaRPr lang="en-US" sz="2000" dirty="0"/>
          </a:p>
          <a:p>
            <a:pPr marL="279400" indent="-279400">
              <a:lnSpc>
                <a:spcPct val="130000"/>
              </a:lnSpc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dynamic_cast and typeid, and recognise when a virtual function should replace them.</a:t>
            </a:r>
            <a:endParaRPr lang="en-US" sz="2000" dirty="0"/>
          </a:p>
          <a:p>
            <a:pPr marL="279400" indent="-279400">
              <a:lnSpc>
                <a:spcPct val="130000"/>
              </a:lnSpc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 polymorphic objects with a virtual clone(), and recognise covariant return types.</a:t>
            </a:r>
            <a:endParaRPr lang="en-US" sz="2000" dirty="0"/>
          </a:p>
          <a:p>
            <a:pPr marL="279400" indent="-279400">
              <a:lnSpc>
                <a:spcPct val="130000"/>
              </a:lnSpc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why virtual calls in constructors and destructors don't reach derived overrides.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4546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194560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MATTERS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822960" y="2670048"/>
            <a:ext cx="2011680" cy="41148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2880360"/>
            <a:ext cx="1051560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 on what objects CAN DO, not on what they ARE.</a:t>
            </a:r>
            <a:endParaRPr lang="en-US" sz="3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37160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Vocabulary</a:t>
            </a:r>
            <a:endParaRPr lang="en-US" sz="28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097280"/>
          <a:ext cx="11064240" cy="5029200"/>
        </p:xfrm>
        <a:graphic>
          <a:graphicData uri="http://schemas.openxmlformats.org/drawingml/2006/table">
            <a:tbl>
              <a:tblPr/>
              <a:tblGrid>
                <a:gridCol w="3200400"/>
                <a:gridCol w="7863840"/>
              </a:tblGrid>
              <a:tr h="558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Term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Definition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</a:tr>
              <a:tr h="558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Pure virtual function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virtual function declared = 0 with no body: every concrete derived class must provide it.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58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Abstract class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class with at least one pure virtual function; it cannot be instantiated, only derived from.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</a:tr>
              <a:tr h="558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Interface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class with only pure virtual functions and a virtual destructor, and no data: a pure capability contract.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58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Template Method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non-virtual method that runs a fixed sequence of steps, some supplied by derived classes through virtual functions.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</a:tr>
              <a:tr h="558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vtable / vptr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per-class table of virtual function addresses, and the hidden pointer in each object that points to its class's table.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58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Static vs dynamic binding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Choosing the function at compile time from the declared type, vs at runtime from the actual object type.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</a:tr>
              <a:tr h="558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RTTI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Run-Time Type Information: dynamic_cast and typeid, which query an object's actual type at runtime.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58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clone()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virtual method that returns a copy of the object as its real type, used for polymorphic copying.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4546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37160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 classes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1188720"/>
            <a:ext cx="1069848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79400" indent="-279400">
              <a:lnSpc>
                <a:spcPct val="130000"/>
              </a:lnSpc>
              <a:buSzPct val="100000"/>
              <a:buChar char="•"/>
            </a:pPr>
            <a:r>
              <a:rPr lang="en-US" sz="2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Pure virtual: = 0 - 'every subclass must provide this'</a:t>
            </a:r>
            <a:endParaRPr lang="en-US" sz="2200" dirty="0"/>
          </a:p>
          <a:p>
            <a:pPr marL="279400" indent="-279400">
              <a:lnSpc>
                <a:spcPct val="130000"/>
              </a:lnSpc>
              <a:buSzPct val="100000"/>
              <a:buChar char="•"/>
            </a:pPr>
            <a:r>
              <a:rPr lang="en-US" sz="2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Can't create an abstract object</a:t>
            </a:r>
            <a:endParaRPr lang="en-US" sz="2200" dirty="0"/>
          </a:p>
          <a:p>
            <a:pPr marL="279400" indent="-279400">
              <a:lnSpc>
                <a:spcPct val="130000"/>
              </a:lnSpc>
              <a:buSzPct val="100000"/>
              <a:buChar char="•"/>
            </a:pPr>
            <a:r>
              <a:rPr lang="en-US" sz="2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still share data and real code</a:t>
            </a:r>
            <a:endParaRPr lang="en-US" sz="2200" dirty="0"/>
          </a:p>
          <a:p>
            <a:pPr marL="279400" indent="-279400">
              <a:lnSpc>
                <a:spcPct val="130000"/>
              </a:lnSpc>
              <a:buSzPct val="100000"/>
              <a:buChar char="•"/>
            </a:pPr>
            <a:r>
              <a:rPr lang="en-US" sz="2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 Method: fixed steps, varying parts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4546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37160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1188720"/>
            <a:ext cx="1069848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79400" indent="-279400">
              <a:lnSpc>
                <a:spcPct val="130000"/>
              </a:lnSpc>
              <a:buSzPct val="100000"/>
              <a:buChar char="•"/>
            </a:pPr>
            <a:r>
              <a:rPr lang="en-US" sz="2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pure virtual functions + virtual destructor</a:t>
            </a:r>
            <a:endParaRPr lang="en-US" sz="2200" dirty="0"/>
          </a:p>
          <a:p>
            <a:pPr marL="279400" indent="-279400">
              <a:lnSpc>
                <a:spcPct val="130000"/>
              </a:lnSpc>
              <a:buSzPct val="100000"/>
              <a:buChar char="•"/>
            </a:pPr>
            <a:r>
              <a:rPr lang="en-US" sz="2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data - a capability contract</a:t>
            </a:r>
            <a:endParaRPr lang="en-US" sz="2200" dirty="0"/>
          </a:p>
          <a:p>
            <a:pPr marL="279400" indent="-279400">
              <a:lnSpc>
                <a:spcPct val="130000"/>
              </a:lnSpc>
              <a:buSzPct val="100000"/>
              <a:buChar char="•"/>
            </a:pPr>
            <a:r>
              <a:rPr lang="en-US" sz="2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class can implement several safely</a:t>
            </a:r>
            <a:endParaRPr lang="en-US" sz="2200" dirty="0"/>
          </a:p>
          <a:p>
            <a:pPr marL="279400" indent="-279400">
              <a:lnSpc>
                <a:spcPct val="130000"/>
              </a:lnSpc>
              <a:buSzPct val="100000"/>
              <a:buChar char="•"/>
            </a:pPr>
            <a:r>
              <a:rPr lang="en-US" sz="2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 to the interface, not the class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4546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37160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the hood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1188720"/>
            <a:ext cx="1069848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79400" indent="-279400">
              <a:lnSpc>
                <a:spcPct val="130000"/>
              </a:lnSpc>
              <a:buSzPct val="100000"/>
              <a:buChar char="•"/>
            </a:pPr>
            <a:r>
              <a:rPr lang="en-US" sz="2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class: a vtable of function addresses</a:t>
            </a:r>
            <a:endParaRPr lang="en-US" sz="2200" dirty="0"/>
          </a:p>
          <a:p>
            <a:pPr marL="279400" indent="-279400">
              <a:lnSpc>
                <a:spcPct val="130000"/>
              </a:lnSpc>
              <a:buSzPct val="100000"/>
              <a:buChar char="•"/>
            </a:pPr>
            <a:r>
              <a:rPr lang="en-US" sz="2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object: a hidden vptr to its table</a:t>
            </a:r>
            <a:endParaRPr lang="en-US" sz="2200" dirty="0"/>
          </a:p>
          <a:p>
            <a:pPr marL="279400" indent="-279400">
              <a:lnSpc>
                <a:spcPct val="130000"/>
              </a:lnSpc>
              <a:buSzPct val="100000"/>
              <a:buChar char="•"/>
            </a:pPr>
            <a:r>
              <a:rPr lang="en-US" sz="2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binding: declared type, compile time</a:t>
            </a:r>
            <a:endParaRPr lang="en-US" sz="2200" dirty="0"/>
          </a:p>
          <a:p>
            <a:pPr marL="279400" indent="-279400">
              <a:lnSpc>
                <a:spcPct val="130000"/>
              </a:lnSpc>
              <a:buSzPct val="100000"/>
              <a:buChar char="•"/>
            </a:pPr>
            <a:r>
              <a:rPr lang="en-US" sz="2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binding: virtual + pointer/reference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4546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37160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RTTI and clone()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1188720"/>
            <a:ext cx="1069848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79400" indent="-279400">
              <a:lnSpc>
                <a:spcPct val="130000"/>
              </a:lnSpc>
              <a:buSzPct val="100000"/>
              <a:buChar char="•"/>
            </a:pPr>
            <a:r>
              <a:rPr lang="en-US" sz="2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dynamic_cast: nullptr (pointer) or throws (reference)</a:t>
            </a:r>
            <a:endParaRPr lang="en-US" sz="2200" dirty="0"/>
          </a:p>
          <a:p>
            <a:pPr marL="279400" indent="-279400">
              <a:lnSpc>
                <a:spcPct val="130000"/>
              </a:lnSpc>
              <a:buSzPct val="100000"/>
              <a:buChar char="•"/>
            </a:pPr>
            <a:r>
              <a:rPr lang="en-US" sz="2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Type-check chains are a smell - use virtual</a:t>
            </a:r>
            <a:endParaRPr lang="en-US" sz="2200" dirty="0"/>
          </a:p>
          <a:p>
            <a:pPr marL="279400" indent="-279400">
              <a:lnSpc>
                <a:spcPct val="130000"/>
              </a:lnSpc>
              <a:buSzPct val="100000"/>
              <a:buChar char="•"/>
            </a:pPr>
            <a:r>
              <a:rPr lang="en-US" sz="2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clone(): copy as the real type</a:t>
            </a:r>
            <a:endParaRPr lang="en-US" sz="2200" dirty="0"/>
          </a:p>
          <a:p>
            <a:pPr marL="279400" indent="-279400">
              <a:lnSpc>
                <a:spcPct val="130000"/>
              </a:lnSpc>
              <a:buSzPct val="100000"/>
              <a:buChar char="•"/>
            </a:pPr>
            <a:r>
              <a:rPr lang="en-US" sz="2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virtual calls in constructors/destructors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4546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37160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Code: an interface, and code that depends only on it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1143000"/>
            <a:ext cx="10698480" cy="4937760"/>
          </a:xfrm>
          <a:prstGeom prst="rect">
            <a:avLst>
              <a:gd name="adj" fmla="val 1481"/>
            </a:avLst>
          </a:prstGeom>
          <a:solidFill>
            <a:srgbClr val="1E1E1E"/>
          </a:solidFill>
          <a:ln w="12700">
            <a:solidFill>
              <a:srgbClr val="3C3C3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05840" y="1371600"/>
            <a:ext cx="10149840" cy="4480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Saveable {</a:t>
            </a:r>
            <a:endParaRPr lang="en-US" sz="16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public:</a:t>
            </a:r>
            <a:endParaRPr lang="en-US" sz="16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virtual ~Saveable() = default;</a:t>
            </a:r>
            <a:endParaRPr lang="en-US" sz="16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virtual std::string toCsv() const = 0;</a:t>
            </a:r>
            <a:endParaRPr lang="en-US" sz="16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};</a:t>
            </a:r>
            <a:endParaRPr lang="en-US" sz="16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endParaRPr lang="en-US" sz="16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 saveAll(const std::vector&lt;const Saveable*&gt;&amp; items,</a:t>
            </a:r>
            <a:endParaRPr lang="en-US" sz="16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std::ofstream&amp; file) {</a:t>
            </a:r>
            <a:endParaRPr lang="en-US" sz="16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(const Saveable* item : items) {</a:t>
            </a:r>
            <a:endParaRPr lang="en-US" sz="16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file &lt;&lt; item-&gt;toCsv() &lt;&lt; "\n";   // works for ANY Saveable</a:t>
            </a:r>
            <a:endParaRPr lang="en-US" sz="16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6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4546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37160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Misconceptions</a:t>
            </a:r>
            <a:endParaRPr lang="en-US" sz="28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097280"/>
          <a:ext cx="11064240" cy="5029200"/>
        </p:xfrm>
        <a:graphic>
          <a:graphicData uri="http://schemas.openxmlformats.org/drawingml/2006/table">
            <a:tbl>
              <a:tblPr/>
              <a:tblGrid>
                <a:gridCol w="4572000"/>
                <a:gridCol w="6492240"/>
              </a:tblGrid>
              <a:tr h="10058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Misconception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Reality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</a:tr>
              <a:tr h="10058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"An abstract class can't have data or implemented methods."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 can have both. Only an interface is restricted to pure virtual functions; abstract classes often share real code.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0058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"dynamic_cast is the normal way to handle different derived types."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Choosing behaviour by checking types is what virtual functions replace. Reserve dynamic_cast for genuine capability questions.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</a:tr>
              <a:tr h="10058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"Calling a virtual function in a base constructor calls the derived version."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During the base constructor the derived part doesn't exist yet, so the base version runs (or a pure virtual call crashes).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0058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"Copying through a base reference copies the whole object."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 slices, and an abstract base can't be copied at all. Use a virtual clone() that knows the real type.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4546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37160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Module's Project — Pick a Track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1188720"/>
            <a:ext cx="1069848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79400" indent="-279400">
              <a:lnSpc>
                <a:spcPct val="130000"/>
              </a:lnSpc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Exercise: 29-abstract-classes-interfaces/exercises/exercise1.cpp - a Payable interface, an abstract Employee with a Template Method payslip and clone(), salaried and hourly employees, a Supplier that is Payable but not an Employee, an interface-only payAll(), and a justified use of dynamic_cast. Project (three tracks): Generic - assessments and report cards; EE - a sensor framework; Biomedical - vital-sign monitoring. Each builds an abstract base with a Template Method, three concrete classes, two interfaces (one implemented outside the hierarchy), clone(), and a vtable diagram.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4546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194560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COMING UP NEXT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822960" y="2670048"/>
            <a:ext cx="2011680" cy="41148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2880360"/>
            <a:ext cx="1051560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hierarchies are now well designed. Next module returns to value types - Money, Fractions, Impedance - and gives them a complete, natural set of operators.</a:t>
            </a:r>
            <a:endParaRPr lang="en-US" sz="3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Introduction to C++ Programming — Part 2: Intermediate C++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Module 29: Abstract Classes, Interfaces &amp; Advanced Polymorphism</dc:title>
  <dc:subject>PptxGenJS Presentation</dc:subject>
  <dc:creator>Douglas Ayitey</dc:creator>
  <cp:lastModifiedBy>Douglas Ayitey</cp:lastModifiedBy>
  <cp:revision>1</cp:revision>
  <dcterms:created xsi:type="dcterms:W3CDTF">2026-09-16T22:35:29Z</dcterms:created>
  <dcterms:modified xsi:type="dcterms:W3CDTF">2026-09-16T22:35:29Z</dcterms:modified>
</cp:coreProperties>
</file>